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MavenPr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Shape 2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Shape 2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Shape 3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• For the weekdays, we selected the top three most popular stops that correlated with the tech companies we researched. We also—&gt;</a:t>
            </a:r>
            <a:r>
              <a:rPr lang="en"/>
              <a:t>top 2 most popular stops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• For weekends, we selected the most popular stops in areas where people working in tech would be (wealthy neighborhoods or by universities)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Shape 3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Entertainment companies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station:</a:t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Canal St Station - SoHo District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23rd Street Station - Flatiron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125th St Station - Harlem not wealthy but columbia University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86th Street Station - Upper east side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34th Street-Herald Square Station - Midtown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Shape 3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Shape 11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Shape 1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Shape 13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Shape 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Shape 15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Shape 16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Shape 18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Shape 19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Shape 20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Shape 2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Shape 23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Shape 2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Shape 25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Shape 26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Shape 27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Shape 28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Shape 29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Shape 30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Shape 3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Shape 33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Shape 3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Shape 35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Shape 36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Shape 37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Shape 38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Shape 3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Shape 40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Shape 41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Shape 4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Shape 43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Shape 4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Shape 50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Shape 5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Shape 5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Shape 5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Shape 5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Shape 5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Shape 5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Shape 5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Shape 5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Shape 59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Shape 6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Shape 6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Shape 6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Shape 6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Shape 6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Shape 7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Shape 7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Shape 7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Shape 7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Shape 7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Shape 7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Shape 7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Shape 7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Shape 79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Shape 8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Shape 8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Shape 8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Shape 8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Shape 8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Shape 8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Shape 9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Shape 9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Shape 9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Shape 97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Shape 9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Shape 10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Shape 10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Shape 10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Shape 10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Shape 10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Shape 109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Shape 1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Shape 113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Shape 114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Shape 11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Shape 116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Shape 117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Shape 11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Shape 11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Shape 1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Shape 121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Shape 122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Shape 123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Shape 124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Shape 12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Shape 1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Shape 12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Shape 12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Shape 131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Shape 132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Shape 133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Shape 1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Shape 136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Shape 13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Shape 13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Shape 139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Shape 14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Shape 142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Shape 14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Shape 144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Shape 14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Shape 146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Shape 147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Shape 14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Shape 14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Shape 150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Shape 15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Shape 15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Shape 15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Shape 154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Shape 15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Shape 156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Shape 157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Shape 15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Shape 15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Shape 160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Shape 16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Shape 16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Shape 16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Shape 164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Shape 165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Shape 166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Shape 167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Shape 16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Shape 16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Shape 170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Shape 17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Shape 17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Shape 17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Shape 174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Shape 175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Shape 176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Shape 177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Shape 17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Shape 17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Shape 180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Shape 18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Shape 18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Shape 18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Shape 184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Shape 185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Shape 186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Shape 187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Shape 18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Shape 18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Shape 190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Shape 19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Shape 19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Shape 19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Shape 194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Shape 195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Shape 196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Shape 197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Shape 19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Shape 19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Shape 200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Shape 20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Shape 20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Shape 20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Shape 204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Shape 205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Shape 206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Shape 207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Shape 20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Shape 20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Shape 210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Shape 2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Shape 2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Shape 21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Shape 214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Shape 215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Shape 216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Shape 217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Shape 21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Shape 21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Shape 220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Shape 22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Shape 22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Shape 2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Shape 224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Shape 225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Shape 226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Shape 227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Shape 22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Shape 22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Shape 230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Shape 23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Shape 23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Shape 23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Shape 234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Shape 235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Shape 236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Shape 237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Shape 23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Shape 23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Shape 240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Shape 24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Shape 24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Shape 24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Shape 244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Shape 245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Shape 246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Shape 247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Shape 24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Shape 24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Shape 250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Shape 25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Shape 25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Shape 25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Shape 254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Shape 255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Shape 256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Shape 257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Shape 25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Shape 25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Shape 260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Shape 26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Shape 26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Shape 26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Shape 264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Shape 265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Shape 266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Shape 267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Shape 268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Shape 27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>
            <p:ph type="ctrTitle"/>
          </p:nvPr>
        </p:nvSpPr>
        <p:spPr>
          <a:xfrm>
            <a:off x="488150" y="1555050"/>
            <a:ext cx="61116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WTWY Annual Gala: Community Outreach Plan </a:t>
            </a:r>
            <a:endParaRPr/>
          </a:p>
        </p:txBody>
      </p:sp>
      <p:sp>
        <p:nvSpPr>
          <p:cNvPr id="278" name="Shape 278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Lucas Schwartz, Lucy Hu, and Nick Lund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>
            <p:ph type="title"/>
          </p:nvPr>
        </p:nvSpPr>
        <p:spPr>
          <a:xfrm>
            <a:off x="781100" y="37625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Goals:</a:t>
            </a:r>
            <a:endParaRPr/>
          </a:p>
        </p:txBody>
      </p:sp>
      <p:sp>
        <p:nvSpPr>
          <p:cNvPr id="284" name="Shape 284"/>
          <p:cNvSpPr txBox="1"/>
          <p:nvPr/>
        </p:nvSpPr>
        <p:spPr>
          <a:xfrm>
            <a:off x="723875" y="1769750"/>
            <a:ext cx="45426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Acquire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 as many sign-ups as possible from Women in tech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Shape 285"/>
          <p:cNvSpPr txBox="1"/>
          <p:nvPr/>
        </p:nvSpPr>
        <p:spPr>
          <a:xfrm>
            <a:off x="723875" y="2501575"/>
            <a:ext cx="45426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Use volunteers as 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efficiently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 as possible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Shape 286"/>
          <p:cNvSpPr txBox="1"/>
          <p:nvPr/>
        </p:nvSpPr>
        <p:spPr>
          <a:xfrm>
            <a:off x="781100" y="3233400"/>
            <a:ext cx="45426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Gather signatures on weekends even though people won’t be at work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/>
          <p:nvPr>
            <p:ph type="title"/>
          </p:nvPr>
        </p:nvSpPr>
        <p:spPr>
          <a:xfrm>
            <a:off x="1207975" y="669925"/>
            <a:ext cx="37650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Considerations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92" name="Shape 292"/>
          <p:cNvSpPr txBox="1"/>
          <p:nvPr>
            <p:ph idx="1" type="body"/>
          </p:nvPr>
        </p:nvSpPr>
        <p:spPr>
          <a:xfrm>
            <a:off x="269100" y="1535850"/>
            <a:ext cx="3990600" cy="28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For weekday locations: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Ridership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Exit theory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Major tech companies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Non-touristy places</a:t>
            </a:r>
            <a:endParaRPr sz="2400">
              <a:solidFill>
                <a:srgbClr val="000000"/>
              </a:solidFill>
            </a:endParaRPr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93" name="Shape 2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189" y="499525"/>
            <a:ext cx="3211725" cy="38665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Shape 294"/>
          <p:cNvSpPr txBox="1"/>
          <p:nvPr/>
        </p:nvSpPr>
        <p:spPr>
          <a:xfrm>
            <a:off x="5228563" y="4430550"/>
            <a:ext cx="30990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 Map of New York Tech Companies Since 2006.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000000"/>
                </a:solidFill>
              </a:rPr>
              <a:t>Considerations</a:t>
            </a:r>
            <a:endParaRPr sz="3600" u="sng">
              <a:solidFill>
                <a:srgbClr val="000000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Shape 300"/>
          <p:cNvSpPr txBox="1"/>
          <p:nvPr>
            <p:ph idx="1" type="body"/>
          </p:nvPr>
        </p:nvSpPr>
        <p:spPr>
          <a:xfrm>
            <a:off x="270850" y="1723825"/>
            <a:ext cx="3916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For weekend locations: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Ridership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Exit theory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Wealthy neighborhoods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Non-touristy places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301" name="Shape 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973" y="1331150"/>
            <a:ext cx="4660928" cy="33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Shape 302"/>
          <p:cNvSpPr txBox="1"/>
          <p:nvPr/>
        </p:nvSpPr>
        <p:spPr>
          <a:xfrm>
            <a:off x="5094500" y="4685600"/>
            <a:ext cx="2779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New York City Poverty Map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/>
          <p:nvPr>
            <p:ph type="title"/>
          </p:nvPr>
        </p:nvSpPr>
        <p:spPr>
          <a:xfrm>
            <a:off x="1303800" y="476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Thinking </a:t>
            </a:r>
            <a:r>
              <a:rPr lang="en">
                <a:solidFill>
                  <a:srgbClr val="000000"/>
                </a:solidFill>
              </a:rPr>
              <a:t>Process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>
            <p:ph idx="1" type="body"/>
          </p:nvPr>
        </p:nvSpPr>
        <p:spPr>
          <a:xfrm>
            <a:off x="1303800" y="993475"/>
            <a:ext cx="7030500" cy="3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• </a:t>
            </a:r>
            <a:r>
              <a:rPr lang="en" sz="1800">
                <a:solidFill>
                  <a:srgbClr val="000000"/>
                </a:solidFill>
              </a:rPr>
              <a:t>We started by searching for the top 10 biggest tech companies in NYC </a:t>
            </a:r>
            <a:r>
              <a:rPr i="1" lang="en" sz="1800" u="sng">
                <a:solidFill>
                  <a:srgbClr val="000000"/>
                </a:solidFill>
              </a:rPr>
              <a:t>before</a:t>
            </a:r>
            <a:r>
              <a:rPr lang="en" sz="1800">
                <a:solidFill>
                  <a:srgbClr val="000000"/>
                </a:solidFill>
              </a:rPr>
              <a:t> looking at the data. </a:t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• We wrote code to rank stations by highest to lowership ridership on Saturday and Monday (to represent weekends and weekdays respectively).</a:t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• For the weekdays, we </a:t>
            </a:r>
            <a:r>
              <a:rPr lang="en" sz="1800">
                <a:solidFill>
                  <a:srgbClr val="000000"/>
                </a:solidFill>
              </a:rPr>
              <a:t>selected the top three most popular stops that correlated with the tech companies we researched. </a:t>
            </a:r>
            <a:endParaRPr sz="1800">
              <a:solidFill>
                <a:srgbClr val="000000"/>
              </a:solidFill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• For weekends, we selected the most popular stops in areas where people working in tech would be (wealthy neighborhoods or by universities)</a:t>
            </a:r>
            <a:endParaRPr sz="1800">
              <a:solidFill>
                <a:srgbClr val="000000"/>
              </a:solidFill>
            </a:endParaRPr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Shape 3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600" y="0"/>
            <a:ext cx="3606926" cy="5143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4" name="Shape 314"/>
          <p:cNvSpPr txBox="1"/>
          <p:nvPr/>
        </p:nvSpPr>
        <p:spPr>
          <a:xfrm>
            <a:off x="6705925" y="94200"/>
            <a:ext cx="25989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66 St Lincoln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ABC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CNN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CBS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NY IT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Fordham University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15" name="Shape 315"/>
          <p:cNvCxnSpPr/>
          <p:nvPr/>
        </p:nvCxnSpPr>
        <p:spPr>
          <a:xfrm>
            <a:off x="4669225" y="549475"/>
            <a:ext cx="2002500" cy="24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16" name="Shape 316"/>
          <p:cNvCxnSpPr/>
          <p:nvPr/>
        </p:nvCxnSpPr>
        <p:spPr>
          <a:xfrm flipH="1">
            <a:off x="2316475" y="2082375"/>
            <a:ext cx="1797900" cy="136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17" name="Shape 317"/>
          <p:cNvCxnSpPr/>
          <p:nvPr/>
        </p:nvCxnSpPr>
        <p:spPr>
          <a:xfrm>
            <a:off x="4509025" y="1800900"/>
            <a:ext cx="2196900" cy="237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8" name="Shape 318"/>
          <p:cNvSpPr txBox="1"/>
          <p:nvPr/>
        </p:nvSpPr>
        <p:spPr>
          <a:xfrm>
            <a:off x="372725" y="3373100"/>
            <a:ext cx="273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8th Ave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Google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Shape 319"/>
          <p:cNvSpPr txBox="1"/>
          <p:nvPr/>
        </p:nvSpPr>
        <p:spPr>
          <a:xfrm>
            <a:off x="6668225" y="4182950"/>
            <a:ext cx="3043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Penn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0" name="Shape 320"/>
          <p:cNvCxnSpPr/>
          <p:nvPr/>
        </p:nvCxnSpPr>
        <p:spPr>
          <a:xfrm>
            <a:off x="5182775" y="1744500"/>
            <a:ext cx="1454700" cy="148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1" name="Shape 321"/>
          <p:cNvSpPr txBox="1"/>
          <p:nvPr/>
        </p:nvSpPr>
        <p:spPr>
          <a:xfrm>
            <a:off x="6705925" y="3139075"/>
            <a:ext cx="2352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Grand Central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2" name="Shape 322"/>
          <p:cNvCxnSpPr/>
          <p:nvPr/>
        </p:nvCxnSpPr>
        <p:spPr>
          <a:xfrm flipH="1">
            <a:off x="2244475" y="1551700"/>
            <a:ext cx="2521500" cy="65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3" name="Shape 323"/>
          <p:cNvSpPr txBox="1"/>
          <p:nvPr/>
        </p:nvSpPr>
        <p:spPr>
          <a:xfrm>
            <a:off x="258675" y="1722150"/>
            <a:ext cx="27369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Rockefeller Center Station 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Comcast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NBC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0" y="0"/>
            <a:ext cx="23529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latin typeface="Nunito"/>
                <a:ea typeface="Nunito"/>
                <a:cs typeface="Nunito"/>
                <a:sym typeface="Nunito"/>
              </a:rPr>
              <a:t>Weekday Stops</a:t>
            </a:r>
            <a:endParaRPr sz="4000" u="sng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Shape 3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475" y="-3187"/>
            <a:ext cx="3606926" cy="5143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30" name="Shape 330"/>
          <p:cNvCxnSpPr/>
          <p:nvPr/>
        </p:nvCxnSpPr>
        <p:spPr>
          <a:xfrm flipH="1">
            <a:off x="1988825" y="2574463"/>
            <a:ext cx="3015600" cy="164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1" name="Shape 331"/>
          <p:cNvCxnSpPr/>
          <p:nvPr/>
        </p:nvCxnSpPr>
        <p:spPr>
          <a:xfrm rot="10800000">
            <a:off x="1593150" y="1967313"/>
            <a:ext cx="2327700" cy="110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2" name="Shape 332"/>
          <p:cNvCxnSpPr/>
          <p:nvPr/>
        </p:nvCxnSpPr>
        <p:spPr>
          <a:xfrm>
            <a:off x="4893075" y="1830075"/>
            <a:ext cx="1849200" cy="213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3" name="Shape 333"/>
          <p:cNvSpPr txBox="1"/>
          <p:nvPr/>
        </p:nvSpPr>
        <p:spPr>
          <a:xfrm>
            <a:off x="77375" y="1560738"/>
            <a:ext cx="20007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Canal St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Shape 334"/>
          <p:cNvSpPr txBox="1"/>
          <p:nvPr/>
        </p:nvSpPr>
        <p:spPr>
          <a:xfrm>
            <a:off x="6586775" y="1967343"/>
            <a:ext cx="30432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86 St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35" name="Shape 335"/>
          <p:cNvCxnSpPr/>
          <p:nvPr/>
        </p:nvCxnSpPr>
        <p:spPr>
          <a:xfrm>
            <a:off x="4926800" y="-22800"/>
            <a:ext cx="17106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6" name="Shape 336"/>
          <p:cNvSpPr txBox="1"/>
          <p:nvPr/>
        </p:nvSpPr>
        <p:spPr>
          <a:xfrm>
            <a:off x="6586775" y="261438"/>
            <a:ext cx="2352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125 St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en" sz="2000">
                <a:latin typeface="Nunito"/>
                <a:ea typeface="Nunito"/>
                <a:cs typeface="Nunito"/>
                <a:sym typeface="Nunito"/>
              </a:rPr>
              <a:t>Columbia University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37" name="Shape 337"/>
          <p:cNvCxnSpPr/>
          <p:nvPr/>
        </p:nvCxnSpPr>
        <p:spPr>
          <a:xfrm>
            <a:off x="5644375" y="558650"/>
            <a:ext cx="1040400" cy="148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8" name="Shape 338"/>
          <p:cNvSpPr txBox="1"/>
          <p:nvPr/>
        </p:nvSpPr>
        <p:spPr>
          <a:xfrm>
            <a:off x="28025" y="3968263"/>
            <a:ext cx="20994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23 St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Shape 339"/>
          <p:cNvSpPr txBox="1"/>
          <p:nvPr/>
        </p:nvSpPr>
        <p:spPr>
          <a:xfrm>
            <a:off x="6586775" y="3957500"/>
            <a:ext cx="25803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Nunito"/>
                <a:ea typeface="Nunito"/>
                <a:cs typeface="Nunito"/>
                <a:sym typeface="Nunito"/>
              </a:rPr>
              <a:t>34 Street-Herald Square Station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Shape 340"/>
          <p:cNvSpPr txBox="1"/>
          <p:nvPr/>
        </p:nvSpPr>
        <p:spPr>
          <a:xfrm>
            <a:off x="0" y="-3175"/>
            <a:ext cx="3043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latin typeface="Nunito"/>
                <a:ea typeface="Nunito"/>
                <a:cs typeface="Nunito"/>
                <a:sym typeface="Nunito"/>
              </a:rPr>
              <a:t>Weekend Stops</a:t>
            </a:r>
            <a:endParaRPr sz="4000" u="sng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6A5A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/>
          <p:nvPr>
            <p:ph type="title"/>
          </p:nvPr>
        </p:nvSpPr>
        <p:spPr>
          <a:xfrm>
            <a:off x="1207975" y="669925"/>
            <a:ext cx="37650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000000"/>
                </a:solidFill>
              </a:rPr>
              <a:t>Takeaways</a:t>
            </a:r>
            <a:endParaRPr b="1" sz="3600" u="sng">
              <a:solidFill>
                <a:srgbClr val="000000"/>
              </a:solidFill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798675" y="1437625"/>
            <a:ext cx="7656900" cy="23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We recommend putting 2 people at each station working shifts of: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○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7am-9am, 4pm-6pm on weekdays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○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10am-2pm on weekends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What sets us apart: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○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Exit theory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○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Weekend stops target residences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○"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Weekday stops target both major tech companies AND large commuter stops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